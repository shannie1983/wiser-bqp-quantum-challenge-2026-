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60" r:id="rId4"/>
    <p:sldId id="257" r:id="rId5"/>
    <p:sldId id="269" r:id="rId6"/>
    <p:sldId id="267" r:id="rId7"/>
    <p:sldId id="268" r:id="rId8"/>
    <p:sldId id="263" r:id="rId9"/>
    <p:sldId id="262" r:id="rId10"/>
    <p:sldId id="272" r:id="rId11"/>
    <p:sldId id="273" r:id="rId12"/>
    <p:sldId id="270" r:id="rId13"/>
    <p:sldId id="266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0963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Title. The core idea: hold everything fixed — parameter budget, interface, physics loss — and vary only whether a quantum circuit replaces part or all of the network.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governing system. Genuinely coupled: pressure ties density and temperature into momentum; the mass flux ρu ties velocity into continuity; compression converts flow work into heat.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Ground-truth data. The LHS sweep across 5 parameters × 41 snapshots × 256 points yields millions of labelled rows per field; the mass-drift gate keeps the reference trustworthy.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Motivation and the controlled design. The three cards are the three levers we hold or vary.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CCF9F-3CF4-2D98-3651-5D54B41AA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2CC1F9-BEC5-7CFF-1CC5-E9CCF1F798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CCFB94-CAB1-B48C-B22F-7E01B029FA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Motivation and the controlled design. The three cards are the three levers we hold or vary.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F00AE5-AB6A-C1EA-C32E-959041C27E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2699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5A0BD-AFF6-13F5-3A40-C166F7383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0D2984-14B5-09B9-3881-4E9DF4CE68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BC82C8-2AAA-D539-BA9C-FC47B5B485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physics loss is redesigned as the full constraint set. L_cons guards against globally mass-violating solutions that still look locally accurate.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842FC9-36A8-68D2-581E-D40ADDB4A4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2619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E61E9-D526-C402-0B3C-2B68A247B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1E5CC8-CFFD-DDAA-D301-AAA3E03DD8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467CF0-A6BD-05C9-A434-EC484EAD80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physics loss is redesigned as the full constraint set. L_cons guards against globally mass-violating solutions that still look locally accurate.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90C0D1-5CF2-8DE1-9B0E-B9CAFE3465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7347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two-branch fully quantum model — the most forward-looking element. It removes the classical residual computation that dominates standard quantum-PINN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physics loss is redesigned as the full constraint set. L_cons guards against globally mass-violating solutions that still look locally accurate.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5C15D-84C7-DD07-3749-F5F2D713B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1C3DD8-A814-9284-5476-286DB0F858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3884E9-4912-652E-F672-249888828A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experiment matrix. Each ablation targets one factor specific to the quantum setting.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2A8D28-6881-52EC-B9BF-883B8D2F7A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6744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8E175-B6A9-1052-EA14-DCB7739FB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5B0992-59E0-77E6-8656-CDC8BAC8A1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43FEBF-316A-A9D4-82A5-A79DB862CB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experiment matrix. Each ablation targets one factor specific to the quantum setting.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9F060B-2D69-8671-66B9-80CC07E007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2321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376B5-5574-3AC4-2B69-3D660F832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DFDFBE-89D6-8BA7-3682-E869883A5B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B0C935-2C7A-DFCC-7F62-4B40D971A8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experiment matrix. Each ablation targets one factor specific to the quantum setting.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3C14E-F797-58E7-8AC8-08E67AAD45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8308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 and future work. Once populated, the tables establish whether a quantum layer confers a measurable advantage on this coupled, shock-generating flow at matched parameter 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Shan.zeng@hotmail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377440"/>
            <a:ext cx="6035040" cy="6035040"/>
          </a:xfrm>
          <a:prstGeom prst="ellipse">
            <a:avLst/>
          </a:prstGeom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784080" y="-1463040"/>
            <a:ext cx="4206240" cy="4206240"/>
          </a:xfrm>
          <a:prstGeom prst="ellipse">
            <a:avLst/>
          </a:prstGeom>
          <a:ln w="19050">
            <a:solidFill>
              <a:srgbClr val="2C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515600" y="-731520"/>
            <a:ext cx="2743200" cy="2743200"/>
          </a:xfrm>
          <a:prstGeom prst="ellipse">
            <a:avLst/>
          </a:prstGeom>
          <a:ln w="190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658600" y="502920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MACHINE LEARNING  ·  COMPUTATIONAL FLUID DYNAMICS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10607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4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 of Quantum-Assisted</a:t>
            </a:r>
            <a:endParaRPr lang="en-US" sz="41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4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Physics-Informed Neural Networks</a:t>
            </a:r>
            <a:endParaRPr lang="en-US" sz="4100" dirty="0"/>
          </a:p>
        </p:txBody>
      </p:sp>
      <p:sp>
        <p:nvSpPr>
          <p:cNvPr id="8" name="Text 6"/>
          <p:cNvSpPr/>
          <p:nvPr/>
        </p:nvSpPr>
        <p:spPr>
          <a:xfrm>
            <a:off x="777240" y="36118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Navier–Stokes Shock-Tube Simulation Surrogate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22960" y="4434840"/>
            <a:ext cx="283464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4617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 Zeng · David  Liu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shan.zeng@hotmail.com</a:t>
            </a:r>
            <a:endParaRPr lang="en-US" sz="16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dqliu@purdue.edu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502920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Benchmark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41248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Governing Law of the Physics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5727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chemeClr val="bg1"/>
                </a:solidFill>
              </a:rPr>
              <a:t>The simulator solves the 1D viscous compressible Navier–Stokes equations in conservation form:</a:t>
            </a:r>
            <a:endParaRPr lang="en-US" sz="1450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777240" y="2286000"/>
            <a:ext cx="10607040" cy="1234440"/>
          </a:xfrm>
          <a:prstGeom prst="roundRect">
            <a:avLst>
              <a:gd name="adj" fmla="val 5185"/>
            </a:avLst>
          </a:prstGeom>
          <a:solidFill>
            <a:srgbClr val="1E26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33272" y="2615184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33272" y="26151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828800" y="243230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Mass continuity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828800" y="2889504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compresses as it decelerates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74920" y="2432304"/>
            <a:ext cx="6126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∂ρ/∂t + ∂(ρu)/∂x = 0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3685032"/>
            <a:ext cx="10607040" cy="1234440"/>
          </a:xfrm>
          <a:prstGeom prst="roundRect">
            <a:avLst>
              <a:gd name="adj" fmla="val 5185"/>
            </a:avLst>
          </a:prstGeom>
          <a:solidFill>
            <a:srgbClr val="1E26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33272" y="4014216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33272" y="40142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828800" y="383133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Momentum balance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828800" y="4288536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and viscosity slow the flow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74920" y="3831336"/>
            <a:ext cx="6126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∂u/∂t + u·∂u/∂x = −(1/ρ)∂p/∂x + ν·∂²u/∂x²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777240" y="5084064"/>
            <a:ext cx="10607040" cy="1234440"/>
          </a:xfrm>
          <a:prstGeom prst="roundRect">
            <a:avLst>
              <a:gd name="adj" fmla="val 5185"/>
            </a:avLst>
          </a:prstGeom>
          <a:solidFill>
            <a:srgbClr val="1E26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033272" y="5413248"/>
            <a:ext cx="566928" cy="566928"/>
          </a:xfrm>
          <a:prstGeom prst="ellipse">
            <a:avLst/>
          </a:prstGeom>
          <a:solidFill>
            <a:srgbClr val="27A9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33272" y="54132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828800" y="523036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 balance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828800" y="5687568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work heats the gas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074920" y="5230368"/>
            <a:ext cx="6126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∂T/∂t + u·∂T/∂x = −(γ−1)T·∂u/∂x + (κ/ρ)∂²T/∂x²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2700" b="1" dirty="0">
                <a:solidFill>
                  <a:srgbClr val="1B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Classical Simulations: 1D Navier–Stokes Shock-Tube Simulation 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77240" y="1920240"/>
            <a:ext cx="4907568" cy="402336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9AA6C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51560" y="21488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solver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2606040"/>
            <a:ext cx="4270938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/>
              <a:t>The classical method uses: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An explicit Lax–Friedrichs update for the inviscid flux.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An implicit backward-Euler update for viscosity and Fourier heat conduction.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Adaptive time steps based on the CFL condition.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A uniform finite-volume grid.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A mass-conservation quality check for every generated scenario.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A2128BA-0032-28D3-5A5F-32A977C6357F}"/>
              </a:ext>
            </a:extLst>
          </p:cNvPr>
          <p:cNvSpPr txBox="1"/>
          <p:nvPr/>
        </p:nvSpPr>
        <p:spPr>
          <a:xfrm>
            <a:off x="6361407" y="5375972"/>
            <a:ext cx="168071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Outputs: </a:t>
            </a:r>
          </a:p>
          <a:p>
            <a:r>
              <a:rPr lang="en-US" sz="1200" dirty="0"/>
              <a:t>[rho, u, p]: 255 x 41 grid</a:t>
            </a:r>
          </a:p>
          <a:p>
            <a:endParaRPr lang="en-US" dirty="0"/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4001509A-8DE6-4AFE-3D0E-9ABE4C71FA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8128783"/>
              </p:ext>
            </p:extLst>
          </p:nvPr>
        </p:nvGraphicFramePr>
        <p:xfrm>
          <a:off x="6361407" y="2834640"/>
          <a:ext cx="5053353" cy="2194560"/>
        </p:xfrm>
        <a:graphic>
          <a:graphicData uri="http://schemas.openxmlformats.org/drawingml/2006/table">
            <a:tbl>
              <a:tblPr/>
              <a:tblGrid>
                <a:gridCol w="1684451">
                  <a:extLst>
                    <a:ext uri="{9D8B030D-6E8A-4147-A177-3AD203B41FA5}">
                      <a16:colId xmlns:a16="http://schemas.microsoft.com/office/drawing/2014/main" val="2292454177"/>
                    </a:ext>
                  </a:extLst>
                </a:gridCol>
                <a:gridCol w="1684451">
                  <a:extLst>
                    <a:ext uri="{9D8B030D-6E8A-4147-A177-3AD203B41FA5}">
                      <a16:colId xmlns:a16="http://schemas.microsoft.com/office/drawing/2014/main" val="4007181204"/>
                    </a:ext>
                  </a:extLst>
                </a:gridCol>
                <a:gridCol w="1684451">
                  <a:extLst>
                    <a:ext uri="{9D8B030D-6E8A-4147-A177-3AD203B41FA5}">
                      <a16:colId xmlns:a16="http://schemas.microsoft.com/office/drawing/2014/main" val="28986340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Parameter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Default sweep range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8118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Courier New" panose="02070309020205020404" pitchFamily="49" charset="0"/>
                        </a:rPr>
                        <a:t>x</a:t>
                      </a:r>
                      <a:endParaRPr 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Spatial coordinate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0–1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62179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Courier New" panose="02070309020205020404" pitchFamily="49" charset="0"/>
                        </a:rPr>
                        <a:t>t</a:t>
                      </a:r>
                      <a:endParaRPr 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Time coordinate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0–0.2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86892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Courier New" panose="02070309020205020404" pitchFamily="49" charset="0"/>
                        </a:rPr>
                        <a:t>p_ratio</a:t>
                      </a:r>
                      <a:endParaRPr 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Left/right pressure ratio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2–20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09234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Courier New" panose="02070309020205020404" pitchFamily="49" charset="0"/>
                        </a:rPr>
                        <a:t>mu</a:t>
                      </a:r>
                      <a:endParaRPr 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Dynamic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0–0.02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73109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Courier New" panose="02070309020205020404" pitchFamily="49" charset="0"/>
                        </a:rPr>
                        <a:t>rho_L</a:t>
                      </a:r>
                      <a:endParaRPr 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Initial left density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0.5–2.0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17662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Courier New" panose="02070309020205020404" pitchFamily="49" charset="0"/>
                        </a:rPr>
                        <a:t>rho_R</a:t>
                      </a:r>
                      <a:endParaRPr 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Initial right density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0.05–0.5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69278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>
                          <a:latin typeface="Courier New" panose="02070309020205020404" pitchFamily="49" charset="0"/>
                        </a:rPr>
                        <a:t>p_R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Initial right pressure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0.05–0.3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0939317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E49BF597-ABC8-A919-8CA9-37A25291C4B9}"/>
              </a:ext>
            </a:extLst>
          </p:cNvPr>
          <p:cNvSpPr txBox="1"/>
          <p:nvPr/>
        </p:nvSpPr>
        <p:spPr>
          <a:xfrm>
            <a:off x="6361407" y="1791312"/>
            <a:ext cx="245971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Inputs: </a:t>
            </a:r>
          </a:p>
          <a:p>
            <a:r>
              <a:rPr lang="pt-BR" sz="1200" dirty="0"/>
              <a:t>[x, t, p_ratio, mu, rho_L, rho_R, p_R]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a quantum layer strengthen how a PINN learns?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68680" y="1613452"/>
            <a:ext cx="104241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>
              <a:lnSpc>
                <a:spcPts val="2200"/>
              </a:lnSpc>
            </a:pPr>
            <a:r>
              <a:rPr lang="en-US" sz="1600" dirty="0"/>
              <a:t>Why should hybrid or fully quantum Physics-Informed Neural Networks (PINNs) be explored for surrogate physics modeling, and how can their architectures—including quantum data encoding, parameterized </a:t>
            </a:r>
            <a:r>
              <a:rPr lang="en-US" sz="1600" dirty="0" err="1"/>
              <a:t>ansätze</a:t>
            </a:r>
            <a:r>
              <a:rPr lang="en-US" sz="1600" dirty="0"/>
              <a:t>, qubit mapping strategies, embedded quantum layers, and physics-informed loss functions—be designed to improve accuracy, computational efficiency, and adherence to physical conservation laws in sparse-data settings?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E8DA0E18-749C-9CE4-EB22-7F500F953F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4651254"/>
              </p:ext>
            </p:extLst>
          </p:nvPr>
        </p:nvGraphicFramePr>
        <p:xfrm>
          <a:off x="914400" y="3365527"/>
          <a:ext cx="10515600" cy="240792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81342347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3591064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Hidden architecture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22087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MLP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Four hidden layers, each 128 neurons with Tanh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7300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Classical PINN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Same 4 × 128 architecture as MLP; physics equations are added through the loss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44111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QAPINN (hybrid)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Four hidden stages; one classical 128 → 128 stage is replaced by a quantum layer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34779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QPINN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classical hidden neural-network layers; uses repeated quantum encoding and ansatz blocks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508698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92E54-0F25-E355-FF1A-57EAC7B7B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C829E62-1239-FAEF-EEC9-5806D63816FB}"/>
              </a:ext>
            </a:extLst>
          </p:cNvPr>
          <p:cNvSpPr/>
          <p:nvPr/>
        </p:nvSpPr>
        <p:spPr>
          <a:xfrm>
            <a:off x="77724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</a:t>
            </a:r>
            <a:r>
              <a:rPr lang="en-US" sz="1400" b="1" kern="0" spc="200" dirty="0" err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Sturctures</a:t>
            </a:r>
            <a:endParaRPr lang="en-US" sz="1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E42824-0918-63EE-553F-7538228879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6542" y="960120"/>
            <a:ext cx="9298916" cy="5830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9261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D78D3-675A-AF8D-40A9-FC5EB950E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7148422-0C56-2D19-817B-4DE32B4857E8}"/>
              </a:ext>
            </a:extLst>
          </p:cNvPr>
          <p:cNvSpPr/>
          <p:nvPr/>
        </p:nvSpPr>
        <p:spPr>
          <a:xfrm>
            <a:off x="777240" y="502920"/>
            <a:ext cx="29505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Encoding</a:t>
            </a:r>
            <a:endParaRPr lang="en-US" sz="1400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B79B001F-F686-7A1C-4F76-6B5CAD3558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6597" y="1195940"/>
            <a:ext cx="1579390" cy="2003419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44322B4C-432B-7452-5AED-1A9534C633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4149" y="1228217"/>
            <a:ext cx="2161739" cy="2065935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B7250C1D-CE54-5268-4EFB-4BD4C28B5D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3927" y="1151261"/>
            <a:ext cx="4205507" cy="2155291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F4D8898B-8752-6738-0CB1-61621D6DFE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95483" y="3785588"/>
            <a:ext cx="1579391" cy="2630233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459D13B8-867A-3EF2-F1E7-27D92964D4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13270" y="3931118"/>
            <a:ext cx="2422618" cy="2339175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C6DB6D17-759C-3915-CDAF-58B09DE5828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0036" y="3894651"/>
            <a:ext cx="4923114" cy="2339175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959E8973-3970-C502-6061-C767A7A3D1C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84162" y="1061154"/>
            <a:ext cx="1866398" cy="2400062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BB926024-5211-E07E-A2CA-A3C2D687EC06}"/>
              </a:ext>
            </a:extLst>
          </p:cNvPr>
          <p:cNvSpPr txBox="1"/>
          <p:nvPr/>
        </p:nvSpPr>
        <p:spPr>
          <a:xfrm>
            <a:off x="253964" y="1537923"/>
            <a:ext cx="2542245" cy="37240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indent="0"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sz="1200" b="1" i="0" dirty="0">
                <a:solidFill>
                  <a:srgbClr val="1F2328"/>
                </a:solidFill>
                <a:effectLst/>
                <a:latin typeface="Mona Sans VF"/>
              </a:rPr>
              <a:t>Quantum encodings</a:t>
            </a:r>
          </a:p>
          <a:p>
            <a:pPr indent="0" algn="l">
              <a:spcAft>
                <a:spcPts val="1200"/>
              </a:spcAft>
              <a:buNone/>
            </a:pPr>
            <a:r>
              <a:rPr lang="en-US" sz="1020" b="0" i="0" dirty="0">
                <a:solidFill>
                  <a:srgbClr val="1F2328"/>
                </a:solidFill>
                <a:effectLst/>
                <a:latin typeface="Monaspace Neon"/>
              </a:rPr>
              <a:t>utilities_quantum_torch.py</a:t>
            </a:r>
            <a:r>
              <a:rPr lang="en-US" sz="1200" b="0" i="0" dirty="0">
                <a:solidFill>
                  <a:srgbClr val="1F2328"/>
                </a:solidFill>
                <a:effectLst/>
                <a:latin typeface="Mona Sans VF"/>
              </a:rPr>
              <a:t> implements:</a:t>
            </a:r>
          </a:p>
          <a:p>
            <a:pPr marL="342900" lvl="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020" b="0" i="0" dirty="0">
                <a:solidFill>
                  <a:srgbClr val="1F2328"/>
                </a:solidFill>
                <a:effectLst/>
                <a:latin typeface="Monaspace Neon"/>
              </a:rPr>
              <a:t>angle</a:t>
            </a:r>
            <a:endParaRPr lang="en-US" sz="1200" b="0" i="0" dirty="0">
              <a:solidFill>
                <a:srgbClr val="1F2328"/>
              </a:solidFill>
              <a:effectLst/>
              <a:latin typeface="Mona Sans VF"/>
            </a:endParaRPr>
          </a:p>
          <a:p>
            <a:pPr marL="342900" lvl="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020" b="0" i="0" dirty="0" err="1">
                <a:solidFill>
                  <a:srgbClr val="1F2328"/>
                </a:solidFill>
                <a:effectLst/>
                <a:latin typeface="Monaspace Neon"/>
              </a:rPr>
              <a:t>angle_full</a:t>
            </a:r>
            <a:endParaRPr lang="en-US" sz="1200" b="0" i="0" dirty="0">
              <a:solidFill>
                <a:srgbClr val="1F2328"/>
              </a:solidFill>
              <a:effectLst/>
              <a:latin typeface="Mona Sans VF"/>
            </a:endParaRPr>
          </a:p>
          <a:p>
            <a:pPr marL="342900" lvl="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020" b="0" i="0" dirty="0" err="1">
                <a:solidFill>
                  <a:srgbClr val="1F2328"/>
                </a:solidFill>
                <a:effectLst/>
                <a:latin typeface="Monaspace Neon"/>
              </a:rPr>
              <a:t>angle_zz</a:t>
            </a:r>
            <a:endParaRPr lang="en-US" sz="1200" b="0" i="0" dirty="0">
              <a:solidFill>
                <a:srgbClr val="1F2328"/>
              </a:solidFill>
              <a:effectLst/>
              <a:latin typeface="Mona Sans VF"/>
            </a:endParaRPr>
          </a:p>
          <a:p>
            <a:pPr marL="342900" lvl="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020" b="0" i="0" dirty="0">
                <a:solidFill>
                  <a:srgbClr val="1F2328"/>
                </a:solidFill>
                <a:effectLst/>
                <a:latin typeface="Monaspace Neon"/>
              </a:rPr>
              <a:t>dense</a:t>
            </a:r>
            <a:endParaRPr lang="en-US" sz="1200" b="0" i="0" dirty="0">
              <a:solidFill>
                <a:srgbClr val="1F2328"/>
              </a:solidFill>
              <a:effectLst/>
              <a:latin typeface="Mona Sans VF"/>
            </a:endParaRPr>
          </a:p>
          <a:p>
            <a:pPr marL="342900" lvl="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020" b="0" i="0" dirty="0">
                <a:solidFill>
                  <a:srgbClr val="1F2328"/>
                </a:solidFill>
                <a:effectLst/>
                <a:latin typeface="Monaspace Neon"/>
              </a:rPr>
              <a:t>arctan</a:t>
            </a:r>
            <a:endParaRPr lang="en-US" sz="1200" b="0" i="0" dirty="0">
              <a:solidFill>
                <a:srgbClr val="1F2328"/>
              </a:solidFill>
              <a:effectLst/>
              <a:latin typeface="Mona Sans VF"/>
            </a:endParaRPr>
          </a:p>
          <a:p>
            <a:pPr marL="342900" lvl="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020" b="0" i="0" dirty="0" err="1">
                <a:solidFill>
                  <a:srgbClr val="1F2328"/>
                </a:solidFill>
                <a:effectLst/>
                <a:latin typeface="Monaspace Neon"/>
              </a:rPr>
              <a:t>iqp</a:t>
            </a:r>
            <a:endParaRPr lang="en-US" sz="1200" b="0" i="0" dirty="0">
              <a:solidFill>
                <a:srgbClr val="1F2328"/>
              </a:solidFill>
              <a:effectLst/>
              <a:latin typeface="Mona Sans VF"/>
            </a:endParaRPr>
          </a:p>
          <a:p>
            <a:pPr marL="342900" lvl="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020" b="0" i="0" dirty="0">
                <a:solidFill>
                  <a:srgbClr val="1F2328"/>
                </a:solidFill>
                <a:effectLst/>
                <a:latin typeface="Monaspace Neon"/>
              </a:rPr>
              <a:t>amplitude</a:t>
            </a:r>
            <a:endParaRPr lang="en-US" sz="1200" b="0" i="0" dirty="0">
              <a:solidFill>
                <a:srgbClr val="1F2328"/>
              </a:solidFill>
              <a:effectLst/>
              <a:latin typeface="Mona Sans VF"/>
            </a:endParaRPr>
          </a:p>
          <a:p>
            <a:pPr marL="342900" lvl="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020" b="0" i="0" dirty="0" err="1">
                <a:solidFill>
                  <a:srgbClr val="1F2328"/>
                </a:solidFill>
                <a:effectLst/>
                <a:latin typeface="Monaspace Neon"/>
              </a:rPr>
              <a:t>fft</a:t>
            </a:r>
            <a:endParaRPr lang="en-US" sz="1200" b="0" i="0" dirty="0">
              <a:solidFill>
                <a:srgbClr val="1F2328"/>
              </a:solidFill>
              <a:effectLst/>
              <a:latin typeface="Mona Sans VF"/>
            </a:endParaRPr>
          </a:p>
          <a:p>
            <a:pPr marL="342900" lvl="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020" b="0" i="0" dirty="0" err="1">
                <a:solidFill>
                  <a:srgbClr val="1F2328"/>
                </a:solidFill>
                <a:effectLst/>
                <a:latin typeface="Monaspace Neon"/>
              </a:rPr>
              <a:t>fft_phase</a:t>
            </a:r>
            <a:endParaRPr lang="en-US" sz="1200" b="0" i="0" dirty="0">
              <a:solidFill>
                <a:srgbClr val="1F2328"/>
              </a:solidFill>
              <a:effectLst/>
              <a:latin typeface="Mona Sans VF"/>
            </a:endParaRPr>
          </a:p>
          <a:p>
            <a:pPr marL="342900" lvl="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020" b="0" i="0" dirty="0" err="1">
                <a:solidFill>
                  <a:srgbClr val="1F2328"/>
                </a:solidFill>
                <a:effectLst/>
                <a:latin typeface="Monaspace Neon"/>
              </a:rPr>
              <a:t>fft_full</a:t>
            </a:r>
            <a:endParaRPr lang="en-US" sz="1200" b="0" i="0" dirty="0">
              <a:solidFill>
                <a:srgbClr val="1F2328"/>
              </a:solidFill>
              <a:effectLst/>
              <a:latin typeface="Mona Sans VF"/>
            </a:endParaRPr>
          </a:p>
        </p:txBody>
      </p:sp>
    </p:spTree>
    <p:extLst>
      <p:ext uri="{BB962C8B-B14F-4D97-AF65-F5344CB8AC3E}">
        <p14:creationId xmlns:p14="http://schemas.microsoft.com/office/powerpoint/2010/main" val="1221323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6C456-42B6-8360-D07C-73768C9EA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D8BA565-A177-4C90-1245-D2EBF34FD1C8}"/>
              </a:ext>
            </a:extLst>
          </p:cNvPr>
          <p:cNvSpPr/>
          <p:nvPr/>
        </p:nvSpPr>
        <p:spPr>
          <a:xfrm>
            <a:off x="777240" y="502920"/>
            <a:ext cx="248646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</a:t>
            </a:r>
            <a:r>
              <a:rPr lang="en-US" sz="1400" b="1" kern="0" spc="200" dirty="0" err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Anzats</a:t>
            </a:r>
            <a:endParaRPr lang="en-US" sz="14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2E490862-294C-E495-8AF5-F3032FC895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1611" y="841479"/>
            <a:ext cx="3313595" cy="1737848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6F8AEAAA-81D8-17B6-9DBE-B93583D4FC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5499" y="4407346"/>
            <a:ext cx="4478465" cy="231549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781A8C8F-66BC-A46B-02B8-8703AAA7C0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4010" y="741372"/>
            <a:ext cx="2460805" cy="183795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6603D634-ECFA-2724-C9A2-DC7E77089F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2717" y="614066"/>
            <a:ext cx="3443657" cy="2092569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BF73429D-E4A6-3372-D92F-D60A2B75BE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8709" y="4316589"/>
            <a:ext cx="3737665" cy="2406252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30994AFB-8840-558A-0396-24881B608B8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59219" y="2622169"/>
            <a:ext cx="6645959" cy="209256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03D9E26-862C-2B05-572D-6C9CACA59B7B}"/>
              </a:ext>
            </a:extLst>
          </p:cNvPr>
          <p:cNvSpPr txBox="1"/>
          <p:nvPr/>
        </p:nvSpPr>
        <p:spPr>
          <a:xfrm>
            <a:off x="269965" y="1967185"/>
            <a:ext cx="2210004" cy="35979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indent="0"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sz="1200" b="1" i="0" dirty="0">
                <a:solidFill>
                  <a:srgbClr val="1F2328"/>
                </a:solidFill>
                <a:effectLst/>
                <a:latin typeface="Mona Sans VF"/>
              </a:rPr>
              <a:t>Quantum ansatzes</a:t>
            </a:r>
          </a:p>
          <a:p>
            <a:pPr indent="0" algn="l">
              <a:spcAft>
                <a:spcPts val="1200"/>
              </a:spcAft>
              <a:buNone/>
            </a:pPr>
            <a:r>
              <a:rPr lang="en-US" sz="1200" b="0" i="0" dirty="0">
                <a:solidFill>
                  <a:srgbClr val="1F2328"/>
                </a:solidFill>
                <a:effectLst/>
                <a:latin typeface="Mona Sans VF"/>
              </a:rPr>
              <a:t>The quantum utility module implements:</a:t>
            </a:r>
          </a:p>
          <a:p>
            <a:pPr marL="342900" lvl="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020" b="0" i="0" dirty="0" err="1">
                <a:solidFill>
                  <a:srgbClr val="1F2328"/>
                </a:solidFill>
                <a:effectLst/>
                <a:latin typeface="Monaspace Neon"/>
              </a:rPr>
              <a:t>u_ring</a:t>
            </a:r>
            <a:endParaRPr lang="en-US" sz="1200" b="0" i="0" dirty="0">
              <a:solidFill>
                <a:srgbClr val="1F2328"/>
              </a:solidFill>
              <a:effectLst/>
              <a:latin typeface="Mona Sans VF"/>
            </a:endParaRPr>
          </a:p>
          <a:p>
            <a:pPr marL="342900" lvl="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020" b="0" i="0" dirty="0" err="1">
                <a:solidFill>
                  <a:srgbClr val="1F2328"/>
                </a:solidFill>
                <a:effectLst/>
                <a:latin typeface="Monaspace Neon"/>
              </a:rPr>
              <a:t>u_full</a:t>
            </a:r>
            <a:endParaRPr lang="en-US" sz="1200" b="0" i="0" dirty="0">
              <a:solidFill>
                <a:srgbClr val="1F2328"/>
              </a:solidFill>
              <a:effectLst/>
              <a:latin typeface="Mona Sans VF"/>
            </a:endParaRPr>
          </a:p>
          <a:p>
            <a:pPr marL="342900" lvl="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020" b="0" i="0" dirty="0" err="1">
                <a:solidFill>
                  <a:srgbClr val="1F2328"/>
                </a:solidFill>
                <a:effectLst/>
                <a:latin typeface="Monaspace Neon"/>
              </a:rPr>
              <a:t>u_alternate</a:t>
            </a:r>
            <a:endParaRPr lang="en-US" sz="1200" b="0" i="0" dirty="0">
              <a:solidFill>
                <a:srgbClr val="1F2328"/>
              </a:solidFill>
              <a:effectLst/>
              <a:latin typeface="Mona Sans VF"/>
            </a:endParaRPr>
          </a:p>
          <a:p>
            <a:pPr marL="342900" lvl="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020" b="0" i="0" dirty="0">
                <a:solidFill>
                  <a:srgbClr val="1F2328"/>
                </a:solidFill>
                <a:effectLst/>
                <a:latin typeface="Monaspace Neon"/>
              </a:rPr>
              <a:t>efficient_su2</a:t>
            </a:r>
            <a:endParaRPr lang="en-US" sz="1200" b="0" i="0" dirty="0">
              <a:solidFill>
                <a:srgbClr val="1F2328"/>
              </a:solidFill>
              <a:effectLst/>
              <a:latin typeface="Mona Sans VF"/>
            </a:endParaRPr>
          </a:p>
          <a:p>
            <a:pPr marL="342900" lvl="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020" b="0" i="0" dirty="0" err="1">
                <a:solidFill>
                  <a:srgbClr val="1F2328"/>
                </a:solidFill>
                <a:effectLst/>
                <a:latin typeface="Monaspace Neon"/>
              </a:rPr>
              <a:t>real_amplitudes</a:t>
            </a:r>
            <a:endParaRPr lang="en-US" sz="1200" b="0" i="0" dirty="0">
              <a:solidFill>
                <a:srgbClr val="1F2328"/>
              </a:solidFill>
              <a:effectLst/>
              <a:latin typeface="Mona Sans VF"/>
            </a:endParaRPr>
          </a:p>
          <a:p>
            <a:pPr marL="342900" lvl="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020" b="0" i="0" dirty="0">
                <a:solidFill>
                  <a:srgbClr val="1F2328"/>
                </a:solidFill>
                <a:effectLst/>
                <a:latin typeface="Monaspace Neon"/>
              </a:rPr>
              <a:t>strongly</a:t>
            </a:r>
            <a:endParaRPr lang="en-US" sz="1200" b="0" i="0" dirty="0">
              <a:solidFill>
                <a:srgbClr val="1F2328"/>
              </a:solidFill>
              <a:effectLst/>
              <a:latin typeface="Mona Sans VF"/>
            </a:endParaRPr>
          </a:p>
          <a:p>
            <a:pPr marL="342900" lvl="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020" b="0" i="0" dirty="0" err="1">
                <a:solidFill>
                  <a:srgbClr val="1F2328"/>
                </a:solidFill>
                <a:effectLst/>
                <a:latin typeface="Monaspace Neon"/>
              </a:rPr>
              <a:t>ns_coupled</a:t>
            </a:r>
            <a:endParaRPr lang="en-US" sz="1200" b="0" i="0" dirty="0">
              <a:solidFill>
                <a:srgbClr val="1F2328"/>
              </a:solidFill>
              <a:effectLst/>
              <a:latin typeface="Mona Sans VF"/>
            </a:endParaRPr>
          </a:p>
          <a:p>
            <a:pPr marL="342900" lvl="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020" b="0" i="0" dirty="0" err="1">
                <a:solidFill>
                  <a:srgbClr val="1F2328"/>
                </a:solidFill>
                <a:effectLst/>
                <a:latin typeface="Monaspace Neon"/>
              </a:rPr>
              <a:t>brick_wall</a:t>
            </a:r>
            <a:endParaRPr lang="en-US" sz="1200" b="0" i="0" dirty="0">
              <a:solidFill>
                <a:srgbClr val="1F2328"/>
              </a:solidFill>
              <a:effectLst/>
              <a:latin typeface="Mona Sans VF"/>
            </a:endParaRPr>
          </a:p>
          <a:p>
            <a:pPr marL="342900" lvl="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020" b="0" i="0" dirty="0" err="1">
                <a:solidFill>
                  <a:srgbClr val="1F2328"/>
                </a:solidFill>
                <a:effectLst/>
                <a:latin typeface="Monaspace Neon"/>
              </a:rPr>
              <a:t>hardware_efficient</a:t>
            </a:r>
            <a:endParaRPr lang="en-US" sz="1200" b="0" i="0" dirty="0">
              <a:solidFill>
                <a:srgbClr val="1F2328"/>
              </a:solidFill>
              <a:effectLst/>
              <a:latin typeface="Mona Sans VF"/>
            </a:endParaRPr>
          </a:p>
        </p:txBody>
      </p:sp>
    </p:spTree>
    <p:extLst>
      <p:ext uri="{BB962C8B-B14F-4D97-AF65-F5344CB8AC3E}">
        <p14:creationId xmlns:p14="http://schemas.microsoft.com/office/powerpoint/2010/main" val="226826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Contribution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4124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and loss as measurements of one wavefunction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892040" y="2103121"/>
            <a:ext cx="2377440" cy="1554480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 w="190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892040" y="2103121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Variational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quantum circuit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892040" y="3063241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wavefunction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7240" y="1600201"/>
            <a:ext cx="3657600" cy="960120"/>
          </a:xfrm>
          <a:prstGeom prst="roundRect">
            <a:avLst>
              <a:gd name="adj" fmla="val 7619"/>
            </a:avLst>
          </a:prstGeom>
          <a:solidFill>
            <a:srgbClr val="1E26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60120" y="1783081"/>
            <a:ext cx="594360" cy="594360"/>
          </a:xfrm>
          <a:prstGeom prst="ellipse">
            <a:avLst/>
          </a:prstGeom>
          <a:solidFill>
            <a:srgbClr val="27A9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60120" y="1783081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91640" y="1737361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A — Prediction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91640" y="2057401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Data-register observable ⟨Z₀⟩ → the field value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434840" y="2075689"/>
            <a:ext cx="457200" cy="502920"/>
          </a:xfrm>
          <a:prstGeom prst="line">
            <a:avLst/>
          </a:prstGeom>
          <a:noFill/>
          <a:ln w="25400">
            <a:solidFill>
              <a:srgbClr val="27A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77240" y="3200401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1E26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60120" y="3429001"/>
            <a:ext cx="594360" cy="59436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60120" y="3429001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691640" y="3337561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B — Quantum loss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91640" y="3657601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Ancilla observable reads the block-encoded PDE residual norm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434840" y="3611881"/>
            <a:ext cx="4572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680960" y="1600201"/>
            <a:ext cx="3703320" cy="2651760"/>
          </a:xfrm>
          <a:prstGeom prst="roundRect">
            <a:avLst>
              <a:gd name="adj" fmla="val 3448"/>
            </a:avLst>
          </a:prstGeom>
          <a:solidFill>
            <a:srgbClr val="1E26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955280" y="1783081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955280" y="2194561"/>
            <a:ext cx="324612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differential operator is block-encoded as a linear combination of unitaries (LCU), so the residual is a native measurement — no classical post-processing.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branches co-train; on hardware, residual derivatives come from the parameter-shift rule.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269480" y="2880361"/>
            <a:ext cx="4114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77240" y="4877971"/>
            <a:ext cx="3921369" cy="17619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computing the physics residual classically after measurement, Branch B reads it directly from an ancilla register — connecting prediction and loss in a single quantum model.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Loss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795132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complete set of physical constraints — not just the PDE residual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77240" y="1438528"/>
            <a:ext cx="1060704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43852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L_physics  =  w_pde·L_pde  +  w_ic·L_ic  +  w_bc·L_bc  +  w_bound·L_bound  +  w_cons·L_cons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70966" y="2980811"/>
            <a:ext cx="3275838" cy="886968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9AA6C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24951" y="296716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L_pde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790844" y="300512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Conservation laws (interior)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9603" y="3301616"/>
            <a:ext cx="2907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Mass, momentum &amp; energy residuals at random collocation points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" y="4818888"/>
            <a:ext cx="3415284" cy="100584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9AA6C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70966" y="4851927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L_ic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790844" y="490273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condition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70966" y="5267203"/>
            <a:ext cx="2907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physical starting state — quiescent cooler gas column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63523" y="5907024"/>
            <a:ext cx="3415284" cy="7315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9AA6C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01315" y="5913925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L_bc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719072" y="5911855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conditions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01315" y="6183760"/>
            <a:ext cx="2907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Hot-fast inflow at x=0; soft zero-gradient outflow at x=1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77240" y="4013550"/>
            <a:ext cx="3383280" cy="600343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9AA6C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70966" y="398099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L_bound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912620" y="399135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admissibility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94266" y="4159600"/>
            <a:ext cx="32758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Positivity of density and temperature (ρ&gt;0, T&gt;0)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70966" y="2239853"/>
            <a:ext cx="3275838" cy="695565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9AA6C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01315" y="227936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L_cons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787168" y="2316439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conservation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19603" y="2473052"/>
            <a:ext cx="326669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Integral mass balance: d/dt ∫ρ dx = net mass flux</a:t>
            </a:r>
            <a:endParaRPr lang="en-US" sz="11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709044F0-0405-54B0-B564-23D6D5FDB9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5831" y="3918723"/>
            <a:ext cx="3921369" cy="2786577"/>
          </a:xfrm>
          <a:prstGeom prst="rect">
            <a:avLst/>
          </a:prstGeom>
        </p:spPr>
      </p:pic>
      <p:sp>
        <p:nvSpPr>
          <p:cNvPr id="35" name="Shape 4">
            <a:extLst>
              <a:ext uri="{FF2B5EF4-FFF2-40B4-BE49-F238E27FC236}">
                <a16:creationId xmlns:a16="http://schemas.microsoft.com/office/drawing/2014/main" id="{0B347D74-BB90-4131-9008-6CDE16FE31ED}"/>
              </a:ext>
            </a:extLst>
          </p:cNvPr>
          <p:cNvSpPr/>
          <p:nvPr/>
        </p:nvSpPr>
        <p:spPr>
          <a:xfrm>
            <a:off x="8108442" y="3804536"/>
            <a:ext cx="3778758" cy="886968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9AA6C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CBCF58F-0389-7D0C-E6F6-A408D1CC3491}"/>
              </a:ext>
            </a:extLst>
          </p:cNvPr>
          <p:cNvSpPr txBox="1"/>
          <p:nvPr/>
        </p:nvSpPr>
        <p:spPr>
          <a:xfrm>
            <a:off x="4299966" y="2316211"/>
            <a:ext cx="7672011" cy="3129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Aft>
                <a:spcPts val="800"/>
              </a:spcAft>
              <a:buNone/>
            </a:pP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QPINN loss. 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The fully quantum QPINN builds two states:</a:t>
            </a:r>
            <a:endParaRPr lang="en-US" b="0" dirty="0">
              <a:effectLst/>
            </a:endParaRPr>
          </a:p>
          <a:p>
            <a:pPr marL="274320" rtl="0">
              <a:spcAft>
                <a:spcPts val="800"/>
              </a:spcAft>
              <a:buNone/>
            </a:pPr>
            <a:r>
              <a:rPr lang="en-US" sz="1200" b="0" i="1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•  ψ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: the predicted quantum state from the encoded inputs plus the ansatz.</a:t>
            </a:r>
            <a:endParaRPr lang="en-US" b="0" dirty="0">
              <a:effectLst/>
            </a:endParaRPr>
          </a:p>
          <a:p>
            <a:pPr marL="274320" rtl="0">
              <a:spcAft>
                <a:spcPts val="800"/>
              </a:spcAft>
              <a:buNone/>
            </a:pPr>
            <a:r>
              <a:rPr lang="en-US" sz="1200" b="0" i="1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•  φ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: the quantum encoding of the ground-truth outputs.</a:t>
            </a:r>
            <a:endParaRPr lang="en-US" b="0" dirty="0">
              <a:effectLst/>
            </a:endParaRPr>
          </a:p>
          <a:p>
            <a:pPr rtl="0">
              <a:spcAft>
                <a:spcPts val="800"/>
              </a:spcAft>
              <a:buNone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Its executed loss is:</a:t>
            </a:r>
            <a:endParaRPr lang="en-US" b="0" dirty="0">
              <a:effectLst/>
            </a:endParaRPr>
          </a:p>
          <a:p>
            <a:pPr algn="ctr" rtl="0">
              <a:spcAft>
                <a:spcPts val="800"/>
              </a:spcAft>
              <a:buNone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L_QPINN  =  </a:t>
            </a:r>
            <a:r>
              <a:rPr lang="en-US" sz="1200" b="0" i="0" u="none" strike="noStrike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λ_data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· L_MSE  +  L_LCU</a:t>
            </a:r>
            <a:endParaRPr lang="en-US" b="0" dirty="0">
              <a:effectLst/>
            </a:endParaRPr>
          </a:p>
          <a:p>
            <a:pPr rtl="0">
              <a:spcAft>
                <a:spcPts val="800"/>
              </a:spcAft>
              <a:buNone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where the LCU loss contains:</a:t>
            </a:r>
            <a:endParaRPr lang="en-US" b="0" dirty="0">
              <a:effectLst/>
            </a:endParaRPr>
          </a:p>
          <a:p>
            <a:pPr algn="ctr" rtl="0">
              <a:spcAft>
                <a:spcPts val="800"/>
              </a:spcAft>
              <a:buNone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L_LCU  =  α_fid · </a:t>
            </a:r>
            <a:r>
              <a:rPr lang="en-US" sz="1200" b="0" i="0" u="none" strike="noStrike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L_fidelity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(ψ, φ)  +  </a:t>
            </a:r>
            <a:r>
              <a:rPr lang="en-US" sz="1200" b="0" i="0" u="none" strike="noStrike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Σ_k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  α_k ( </a:t>
            </a:r>
            <a:r>
              <a:rPr lang="en-US" sz="1200" b="0" i="0" u="none" strike="noStrike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c_k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⟨ψ| </a:t>
            </a:r>
            <a:r>
              <a:rPr lang="en-US" sz="1200" b="0" i="0" u="none" strike="noStrike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P_k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|ψ⟩ )²</a:t>
            </a:r>
            <a:endParaRPr lang="en-US" b="0" dirty="0">
              <a:effectLst/>
            </a:endParaRPr>
          </a:p>
          <a:p>
            <a:pPr rtl="0">
              <a:spcAft>
                <a:spcPts val="800"/>
              </a:spcAft>
              <a:buNone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The Pauli terms represent the quantum Navier–Stokes PDE constraint. The fidelity and PDE weights are normalized into the LCU coefficients α_k. </a:t>
            </a:r>
            <a:endParaRPr lang="en-US" b="0" dirty="0">
              <a:effectLst/>
            </a:endParaRP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68772-FDCD-E1D1-3B22-3AE04F511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3BDF966-0978-16C2-7F45-7E3E9D010EBC}"/>
              </a:ext>
            </a:extLst>
          </p:cNvPr>
          <p:cNvSpPr/>
          <p:nvPr/>
        </p:nvSpPr>
        <p:spPr>
          <a:xfrm>
            <a:off x="77724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Ablations</a:t>
            </a:r>
            <a:endParaRPr lang="en-US" sz="1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1E7F1AF-A6DC-38F9-B71B-9C6C9E96F17C}"/>
              </a:ext>
            </a:extLst>
          </p:cNvPr>
          <p:cNvSpPr/>
          <p:nvPr/>
        </p:nvSpPr>
        <p:spPr>
          <a:xfrm>
            <a:off x="731520" y="84124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29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1264869-9428-7AB9-BA29-9929EE0CC8FE}"/>
              </a:ext>
            </a:extLst>
          </p:cNvPr>
          <p:cNvSpPr/>
          <p:nvPr/>
        </p:nvSpPr>
        <p:spPr>
          <a:xfrm>
            <a:off x="1014984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3CA1063-1D91-FF22-DCB8-995FFF051933}"/>
              </a:ext>
            </a:extLst>
          </p:cNvPr>
          <p:cNvSpPr/>
          <p:nvPr/>
        </p:nvSpPr>
        <p:spPr>
          <a:xfrm>
            <a:off x="777240" y="903766"/>
            <a:ext cx="2395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5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Predictions</a:t>
            </a:r>
            <a:endParaRPr lang="en-US" sz="145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D62D8638-D19C-8502-E66C-3717CB745896}"/>
              </a:ext>
            </a:extLst>
          </p:cNvPr>
          <p:cNvSpPr/>
          <p:nvPr/>
        </p:nvSpPr>
        <p:spPr>
          <a:xfrm>
            <a:off x="777240" y="58064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Hybrid (QAPINN) can have better performance compared to classical PINN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Full Quantum neural network accuracy needs to be improved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03A0F14-5627-20EB-9AB6-9590FF531A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3135" y="640080"/>
            <a:ext cx="5913705" cy="6214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350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F733F-CD92-147B-4703-498A377CA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CD9E214-9736-7C0B-61FA-C0D234A91485}"/>
              </a:ext>
            </a:extLst>
          </p:cNvPr>
          <p:cNvSpPr/>
          <p:nvPr/>
        </p:nvSpPr>
        <p:spPr>
          <a:xfrm>
            <a:off x="77724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Ablations</a:t>
            </a:r>
            <a:endParaRPr lang="en-US" sz="1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1D68FDE-F280-0A46-FEF7-8E13D5272D65}"/>
              </a:ext>
            </a:extLst>
          </p:cNvPr>
          <p:cNvSpPr/>
          <p:nvPr/>
        </p:nvSpPr>
        <p:spPr>
          <a:xfrm>
            <a:off x="731520" y="84124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29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13EEA54-4211-9322-8B76-9346E4AD86F3}"/>
              </a:ext>
            </a:extLst>
          </p:cNvPr>
          <p:cNvSpPr/>
          <p:nvPr/>
        </p:nvSpPr>
        <p:spPr>
          <a:xfrm>
            <a:off x="1014984" y="1406045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14C8808-CF93-E3A6-201A-FBB923ADB677}"/>
              </a:ext>
            </a:extLst>
          </p:cNvPr>
          <p:cNvSpPr/>
          <p:nvPr/>
        </p:nvSpPr>
        <p:spPr>
          <a:xfrm>
            <a:off x="1014984" y="140604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FA6B0ED-C8E6-6215-EF24-E86E0688D6F7}"/>
              </a:ext>
            </a:extLst>
          </p:cNvPr>
          <p:cNvSpPr/>
          <p:nvPr/>
        </p:nvSpPr>
        <p:spPr>
          <a:xfrm>
            <a:off x="1645920" y="1351181"/>
            <a:ext cx="2395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5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Four-model</a:t>
            </a: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comparison</a:t>
            </a:r>
            <a:endParaRPr lang="en-US" sz="145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2F741229-489C-0489-586D-3498B0AEF5AF}"/>
              </a:ext>
            </a:extLst>
          </p:cNvPr>
          <p:cNvSpPr/>
          <p:nvPr/>
        </p:nvSpPr>
        <p:spPr>
          <a:xfrm>
            <a:off x="777240" y="58064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Hybrid (QAPINN) can have better performance compared to classical PINN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Full Quantum neural network accuracy needs to be improved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01E4A9D-52F3-7B91-85BB-5E4D785A26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97222"/>
            <a:ext cx="12192000" cy="3239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768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3E470-207A-205A-22A0-9A295726F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80363BA-0E1A-CF8E-E636-08E94634A0E7}"/>
              </a:ext>
            </a:extLst>
          </p:cNvPr>
          <p:cNvSpPr/>
          <p:nvPr/>
        </p:nvSpPr>
        <p:spPr>
          <a:xfrm>
            <a:off x="77724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Ablations</a:t>
            </a:r>
            <a:endParaRPr lang="en-US" sz="1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DAFF109-E898-4BDC-1462-F9B6574DA7B6}"/>
              </a:ext>
            </a:extLst>
          </p:cNvPr>
          <p:cNvSpPr/>
          <p:nvPr/>
        </p:nvSpPr>
        <p:spPr>
          <a:xfrm>
            <a:off x="731520" y="84124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2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63D2D8C-CE0F-F732-1628-C1D8A1FE9720}"/>
              </a:ext>
            </a:extLst>
          </p:cNvPr>
          <p:cNvSpPr/>
          <p:nvPr/>
        </p:nvSpPr>
        <p:spPr>
          <a:xfrm>
            <a:off x="1645920" y="2029968"/>
            <a:ext cx="2395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Four-model comparison</a:t>
            </a:r>
            <a:endParaRPr lang="en-US" sz="1450" dirty="0"/>
          </a:p>
        </p:txBody>
      </p:sp>
      <p:sp>
        <p:nvSpPr>
          <p:cNvPr id="36" name="Shape 8">
            <a:extLst>
              <a:ext uri="{FF2B5EF4-FFF2-40B4-BE49-F238E27FC236}">
                <a16:creationId xmlns:a16="http://schemas.microsoft.com/office/drawing/2014/main" id="{EC1B8D3B-8277-E40A-3CDC-1321ED9840F6}"/>
              </a:ext>
            </a:extLst>
          </p:cNvPr>
          <p:cNvSpPr/>
          <p:nvPr/>
        </p:nvSpPr>
        <p:spPr>
          <a:xfrm>
            <a:off x="1014984" y="1051560"/>
            <a:ext cx="457200" cy="457200"/>
          </a:xfrm>
          <a:prstGeom prst="ellipse">
            <a:avLst/>
          </a:prstGeom>
          <a:solidFill>
            <a:srgbClr val="27A9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9">
            <a:extLst>
              <a:ext uri="{FF2B5EF4-FFF2-40B4-BE49-F238E27FC236}">
                <a16:creationId xmlns:a16="http://schemas.microsoft.com/office/drawing/2014/main" id="{58C1CB6F-1F23-27DE-CF07-F90F465E4D23}"/>
              </a:ext>
            </a:extLst>
          </p:cNvPr>
          <p:cNvSpPr/>
          <p:nvPr/>
        </p:nvSpPr>
        <p:spPr>
          <a:xfrm>
            <a:off x="1014984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40" name="Text 10">
            <a:extLst>
              <a:ext uri="{FF2B5EF4-FFF2-40B4-BE49-F238E27FC236}">
                <a16:creationId xmlns:a16="http://schemas.microsoft.com/office/drawing/2014/main" id="{7567FADA-4443-6984-7A2D-D8CFD81BE91B}"/>
              </a:ext>
            </a:extLst>
          </p:cNvPr>
          <p:cNvSpPr/>
          <p:nvPr/>
        </p:nvSpPr>
        <p:spPr>
          <a:xfrm>
            <a:off x="1645920" y="996696"/>
            <a:ext cx="2395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5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Circuit depth (QPINN)</a:t>
            </a:r>
            <a:endParaRPr lang="en-US" sz="1450" dirty="0"/>
          </a:p>
        </p:txBody>
      </p:sp>
      <p:sp>
        <p:nvSpPr>
          <p:cNvPr id="42" name="Shape 13">
            <a:extLst>
              <a:ext uri="{FF2B5EF4-FFF2-40B4-BE49-F238E27FC236}">
                <a16:creationId xmlns:a16="http://schemas.microsoft.com/office/drawing/2014/main" id="{BA9B1FFE-FEE2-12B8-629C-12A0BCF249F0}"/>
              </a:ext>
            </a:extLst>
          </p:cNvPr>
          <p:cNvSpPr/>
          <p:nvPr/>
        </p:nvSpPr>
        <p:spPr>
          <a:xfrm>
            <a:off x="4617720" y="105156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14">
            <a:extLst>
              <a:ext uri="{FF2B5EF4-FFF2-40B4-BE49-F238E27FC236}">
                <a16:creationId xmlns:a16="http://schemas.microsoft.com/office/drawing/2014/main" id="{8B6A210D-C97B-C92C-D22F-0D65C02C8F76}"/>
              </a:ext>
            </a:extLst>
          </p:cNvPr>
          <p:cNvSpPr/>
          <p:nvPr/>
        </p:nvSpPr>
        <p:spPr>
          <a:xfrm>
            <a:off x="461772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6" name="Text 15">
            <a:extLst>
              <a:ext uri="{FF2B5EF4-FFF2-40B4-BE49-F238E27FC236}">
                <a16:creationId xmlns:a16="http://schemas.microsoft.com/office/drawing/2014/main" id="{22CE1089-FB13-A3DA-2304-D6C2DBE3B4CE}"/>
              </a:ext>
            </a:extLst>
          </p:cNvPr>
          <p:cNvSpPr/>
          <p:nvPr/>
        </p:nvSpPr>
        <p:spPr>
          <a:xfrm>
            <a:off x="5248656" y="996696"/>
            <a:ext cx="2395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5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Encoding strategy</a:t>
            </a:r>
            <a:endParaRPr lang="en-US" sz="14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F7AA05-0916-CF68-6B50-3CB1C572FB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156" y="1801368"/>
            <a:ext cx="5087256" cy="48034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60A9284-4F9D-4F30-16CF-80B077F25A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2582" y="1280160"/>
            <a:ext cx="6228516" cy="5453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7168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3291840"/>
            <a:ext cx="5852160" cy="5852160"/>
          </a:xfrm>
          <a:prstGeom prst="ellipse">
            <a:avLst/>
          </a:prstGeom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280160" y="4206240"/>
            <a:ext cx="4023360" cy="4023360"/>
          </a:xfrm>
          <a:prstGeom prst="ellipse">
            <a:avLst/>
          </a:prstGeom>
          <a:ln w="190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7724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and Future Work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931920" y="2240280"/>
            <a:ext cx="457200" cy="457200"/>
          </a:xfrm>
          <a:prstGeom prst="ellipse">
            <a:avLst/>
          </a:prstGeom>
          <a:solidFill>
            <a:srgbClr val="27A9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93192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931920" y="3154680"/>
            <a:ext cx="457200" cy="457200"/>
          </a:xfrm>
          <a:prstGeom prst="ellipse">
            <a:avLst/>
          </a:prstGeom>
          <a:solidFill>
            <a:srgbClr val="27A9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93192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63440" y="3220519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ts val="15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Aptos" panose="020B0004020202020204" pitchFamily="34" charset="0"/>
              </a:rPr>
              <a:t>QAPINN loss decrease faster if quantum layer are for the last layer but accuracy is better </a:t>
            </a:r>
          </a:p>
        </p:txBody>
      </p:sp>
      <p:sp>
        <p:nvSpPr>
          <p:cNvPr id="14" name="Shape 12"/>
          <p:cNvSpPr/>
          <p:nvPr/>
        </p:nvSpPr>
        <p:spPr>
          <a:xfrm>
            <a:off x="3931920" y="4069080"/>
            <a:ext cx="457200" cy="457200"/>
          </a:xfrm>
          <a:prstGeom prst="ellipse">
            <a:avLst/>
          </a:prstGeom>
          <a:solidFill>
            <a:srgbClr val="27A9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93192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54006" y="4101999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931920" y="498348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931920" y="4983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663440" y="498348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ts val="15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work are needed to improve fully quantum code: mapping to larger qubit number seems the most important thing to improve the accuracy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C7D0B9-53B2-1396-190E-E2AB44F6147A}"/>
              </a:ext>
            </a:extLst>
          </p:cNvPr>
          <p:cNvSpPr txBox="1"/>
          <p:nvPr/>
        </p:nvSpPr>
        <p:spPr>
          <a:xfrm>
            <a:off x="4590288" y="2163109"/>
            <a:ext cx="720255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u="none" strike="noStrike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The fully quantum QPINN, in its best swept configuration, reaches only R² ≈ 0.78 on the test set, against R² ≈ 0.9961 for the classical PINN and R² ≈ 0.999 for the hybrid QAPINN.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D5EA293-A6BE-9631-1E5B-5A9879EE086A}"/>
              </a:ext>
            </a:extLst>
          </p:cNvPr>
          <p:cNvSpPr txBox="1"/>
          <p:nvPr/>
        </p:nvSpPr>
        <p:spPr>
          <a:xfrm>
            <a:off x="4663440" y="4113013"/>
            <a:ext cx="71294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Both the selection of encode and the selection of ansatz can impact on the accuracy of QAPINN results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917</TotalTime>
  <Words>1412</Words>
  <Application>Microsoft Office PowerPoint</Application>
  <PresentationFormat>Widescreen</PresentationFormat>
  <Paragraphs>195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Mona Sans VF</vt:lpstr>
      <vt:lpstr>Monaspace Neon</vt:lpstr>
      <vt:lpstr>Aptos</vt:lpstr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SHAN ZENG</cp:lastModifiedBy>
  <cp:revision>57</cp:revision>
  <dcterms:created xsi:type="dcterms:W3CDTF">2026-08-05T22:40:15Z</dcterms:created>
  <dcterms:modified xsi:type="dcterms:W3CDTF">2026-08-08T02:39:58Z</dcterms:modified>
</cp:coreProperties>
</file>